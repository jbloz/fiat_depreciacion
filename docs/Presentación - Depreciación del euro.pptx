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Proxima Nova Condensed Bold" charset="1" panose="02000506030000020004"/>
      <p:regular r:id="rId32"/>
    </p:embeddedFont>
    <p:embeddedFont>
      <p:font typeface="Touvlo" charset="1" panose="020B0604030403020204"/>
      <p:regular r:id="rId33"/>
    </p:embeddedFont>
    <p:embeddedFont>
      <p:font typeface="Proxima Nova Condensed" charset="1" panose="02000506030000020004"/>
      <p:regular r:id="rId37"/>
    </p:embeddedFont>
    <p:embeddedFont>
      <p:font typeface="Touvlo Bold" charset="1" panose="020B0804030403020204"/>
      <p:regular r:id="rId41"/>
    </p:embeddedFont>
    <p:embeddedFont>
      <p:font typeface="Open Sans Bold" charset="1" panose="020B0806030504020204"/>
      <p:regular r:id="rId45"/>
    </p:embeddedFont>
    <p:embeddedFont>
      <p:font typeface="Open Sans" charset="1" panose="020B060603050402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"Para responder a esto, hemos integrado datos muy profundos. No nos quedamos en la superficie. Por la parte social (INE), analizamos la economía real. Y aquí quiero destacar que hemos bajado al detalle: usamos deciles salariales para ver la desigualdad y el desempleo por franjas de edad, porque la crisis no afecta igual a un joven que a un senior. Por la parte financiera, monitoreamos los mercados en tiempo real: el Oro como refugio, el IBEX como termómetro empresarial y el cruce Euro-Dólar. Cruzar estas dos fuentes es lo que da valor al proyecto."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cambiar la foto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"Pasando al análisis de necesidades, identificamos que nuestro problema requiere dos tipologías de datos radicalmente opuestas. Por un lado, necesitamos datos estructurales para medir el nivel de vida: IPC y Salarios. Estos datos son 'lentos', se publican meses tarde y suelen venir en formatos 'legacy' como Excel o CSVs con formatos no estándar. Por otro lado, para medir la protección de la riqueza, necesitamos datos de mercado: Oro y Bolsa. Estos son datos 'rápidos', diarios y vienen en formato JSON vía API. El reto de este apartado fue definir cómo haríamos convivir formatos estáticos con flujos de datos dinámicos."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"Pasando al análisis de necesidades, identificamos que nuestro problema requiere dos tipologías de datos radicalmente opuestas. Por un lado, necesitamos datos estructurales para medir el nivel de vida: IPC y Salarios. Estos datos son 'lentos', se publican meses tarde y suelen venir en formatos 'legacy' como Excel o CSVs con formatos no estándar. Por otro lado, para medir la protección de la riqueza, necesitamos datos de mercado: Oro y Bolsa. Estos son datos 'rápidos', diarios y vienen en formato JSON vía API. El reto de este apartado fue definir cómo haríamos convivir formatos estáticos con flujos de datos dinámicos."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responder a esto, hemos integrado datos muy profundos. No nos quedamos en la superficie. Por la parte social (INE), analizamos la economía real. Y aquí quiero destacar que hemos bajado al detalle: usamos deciles salariales para ver la desigualdad y el desempleo por franjas de edad, porque la crisis no afecta igual a un joven que a un senior. Por la parte financiera, monitoreamos los mercados en tiempo real: el Oro como refugio, el IBEX como termómetro empresarial y el cruce Euro-Dólar. Cruzar estas dos fuentes es lo que da valor al proyecto.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imagen de los scripts de python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meter las fotos de las transformaciones, titulo y eso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17" cy="4816592"/>
            </a:xfrm>
            <a:custGeom>
              <a:avLst/>
              <a:gdLst/>
              <a:ahLst/>
              <a:cxnLst/>
              <a:rect r="r" b="b" t="t" l="l"/>
              <a:pathLst>
                <a:path h="481659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0E6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411417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53325" y="0"/>
            <a:ext cx="10734675" cy="8724900"/>
            <a:chOff x="0" y="0"/>
            <a:chExt cx="1236295" cy="1004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6295" cy="1004833"/>
            </a:xfrm>
            <a:custGeom>
              <a:avLst/>
              <a:gdLst/>
              <a:ahLst/>
              <a:cxnLst/>
              <a:rect r="r" b="b" t="t" l="l"/>
              <a:pathLst>
                <a:path h="1004833" w="1236295">
                  <a:moveTo>
                    <a:pt x="0" y="0"/>
                  </a:moveTo>
                  <a:lnTo>
                    <a:pt x="1236295" y="0"/>
                  </a:lnTo>
                  <a:lnTo>
                    <a:pt x="1236295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1140" t="0" r="-2114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9120050"/>
            <a:ext cx="495645" cy="576750"/>
            <a:chOff x="0" y="0"/>
            <a:chExt cx="6985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3248" y="104775"/>
            <a:ext cx="4531703" cy="461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2"/>
              </a:lnSpc>
            </a:pPr>
            <a:r>
              <a:rPr lang="en-US" b="true" sz="6002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Depreciación del euro y erosión del poder adquisitivo (2010–2025)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3248" y="5361050"/>
            <a:ext cx="7190077" cy="92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3"/>
              </a:lnSpc>
            </a:pPr>
            <a:r>
              <a:rPr lang="en-US" sz="2688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Análisis de inflación, salarios, oro y mercados financieros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301" y="9242214"/>
            <a:ext cx="13865478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2"/>
              </a:lnSpc>
            </a:pPr>
            <a:r>
              <a:rPr lang="en-US" sz="2962">
                <a:solidFill>
                  <a:srgbClr val="0A2540"/>
                </a:solidFill>
                <a:latin typeface="Touvlo"/>
                <a:ea typeface="Touvlo"/>
                <a:cs typeface="Touvlo"/>
                <a:sym typeface="Touvlo"/>
              </a:rPr>
              <a:t>Jordi Blasco, Mauro Valls, Alejandro Parra, Alejandro Martinez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2806" y="4749082"/>
            <a:ext cx="9262388" cy="4509218"/>
          </a:xfrm>
          <a:custGeom>
            <a:avLst/>
            <a:gdLst/>
            <a:ahLst/>
            <a:cxnLst/>
            <a:rect r="r" b="b" t="t" l="l"/>
            <a:pathLst>
              <a:path h="4509218" w="9262388">
                <a:moveTo>
                  <a:pt x="0" y="0"/>
                </a:moveTo>
                <a:lnTo>
                  <a:pt x="9262388" y="0"/>
                </a:lnTo>
                <a:lnTo>
                  <a:pt x="9262388" y="4509218"/>
                </a:lnTo>
                <a:lnTo>
                  <a:pt x="0" y="450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2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97" y="383940"/>
            <a:ext cx="8324850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</a:t>
            </a: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597" y="1753952"/>
            <a:ext cx="14041098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LA "INFLACION INVISIBLE"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DECAIMIENTO DE LA MONEDA FIAT RESPECTO A OTROS ACTIVOS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AUMENTO DEL COSTE DE VIDA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AUMENTO DE LAS BRECHAS SALARIALES Y PATRIMONIALES ENTRE CLASES SOCIALES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597" y="326790"/>
            <a:ext cx="13382762" cy="90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</a:pPr>
            <a:r>
              <a:rPr lang="en-US" b="true" sz="67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Arquitectura del Sistema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3649" y="2462623"/>
            <a:ext cx="10439872" cy="227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⚙️ INGESTA: INGESTA MANUAL Y MEDIANTE PYTHON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🔧 TRANSFORMACIÓN: LIMPIEZA Y GENERACIÓN DE DATOS MEDIANTE PENTAHO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🗄️ CENTRALIZACIÓN: DATA WAREHOUSE (MYSQL)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🌐 SEMÁNTICA: DATOS FAIR (SCHEMA.ORG)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📊 VISUALIZACIONES: PLOTEO DE GRÁFICAS CONCLUYENTES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279886" y="5061624"/>
            <a:ext cx="8355057" cy="3801259"/>
          </a:xfrm>
          <a:custGeom>
            <a:avLst/>
            <a:gdLst/>
            <a:ahLst/>
            <a:cxnLst/>
            <a:rect r="r" b="b" t="t" l="l"/>
            <a:pathLst>
              <a:path h="3801259" w="8355057">
                <a:moveTo>
                  <a:pt x="0" y="0"/>
                </a:moveTo>
                <a:lnTo>
                  <a:pt x="8355058" y="0"/>
                </a:lnTo>
                <a:lnTo>
                  <a:pt x="8355058" y="3801260"/>
                </a:lnTo>
                <a:lnTo>
                  <a:pt x="0" y="3801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14" t="-8470" r="-4530" b="-23774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976" y="3543627"/>
            <a:ext cx="5863182" cy="4639725"/>
            <a:chOff x="0" y="0"/>
            <a:chExt cx="7817577" cy="6186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7472" y="1315490"/>
              <a:ext cx="6015558" cy="3285999"/>
            </a:xfrm>
            <a:custGeom>
              <a:avLst/>
              <a:gdLst/>
              <a:ahLst/>
              <a:cxnLst/>
              <a:rect r="r" b="b" t="t" l="l"/>
              <a:pathLst>
                <a:path h="3285999" w="6015558">
                  <a:moveTo>
                    <a:pt x="0" y="0"/>
                  </a:moveTo>
                  <a:lnTo>
                    <a:pt x="6015558" y="0"/>
                  </a:lnTo>
                  <a:lnTo>
                    <a:pt x="6015558" y="3285998"/>
                  </a:lnTo>
                  <a:lnTo>
                    <a:pt x="0" y="3285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76200"/>
              <a:ext cx="7670104" cy="687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sz="3759">
                  <a:solidFill>
                    <a:srgbClr val="F7F8F8"/>
                  </a:solidFill>
                  <a:latin typeface="Proxima Nova Condensed"/>
                  <a:ea typeface="Proxima Nova Condensed"/>
                  <a:cs typeface="Proxima Nova Condensed"/>
                  <a:sym typeface="Proxima Nova Condensed"/>
                </a:rPr>
                <a:t> </a:t>
              </a: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INE</a:t>
              </a: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(Oficial)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7472" y="4876817"/>
              <a:ext cx="7670104" cy="130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✅ ALTA FIABILIDAD</a:t>
              </a:r>
            </a:p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⚠️ ACCESO MANUAL Y COMPLEJO</a:t>
              </a:r>
            </a:p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⚠️DATOS MUY MAL ESTRUCTURADOS (ANÁLISIS DIFICIL)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66569" y="3543627"/>
            <a:ext cx="6054346" cy="4639725"/>
            <a:chOff x="0" y="0"/>
            <a:chExt cx="8072462" cy="618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7472" y="1315490"/>
              <a:ext cx="6015558" cy="3285999"/>
            </a:xfrm>
            <a:custGeom>
              <a:avLst/>
              <a:gdLst/>
              <a:ahLst/>
              <a:cxnLst/>
              <a:rect r="r" b="b" t="t" l="l"/>
              <a:pathLst>
                <a:path h="3285999" w="6015558">
                  <a:moveTo>
                    <a:pt x="0" y="0"/>
                  </a:moveTo>
                  <a:lnTo>
                    <a:pt x="6015558" y="0"/>
                  </a:lnTo>
                  <a:lnTo>
                    <a:pt x="6015558" y="3285998"/>
                  </a:lnTo>
                  <a:lnTo>
                    <a:pt x="0" y="3285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76200"/>
              <a:ext cx="7670104" cy="687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Yahoo</a:t>
              </a: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Finance (Mercado)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7472" y="4876817"/>
              <a:ext cx="7924989" cy="1309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✅ ACCESO API GRATUITO (`YFINANCE`) </a:t>
              </a:r>
            </a:p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✅ HISTÓRICO \&gt; 15 AÑOS</a:t>
              </a:r>
            </a:p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✅ DATOS BIEN ESTRUCTURADOS (ANÁLISIS FACIL)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28814" y="1311495"/>
              <a:ext cx="6065109" cy="3313066"/>
            </a:xfrm>
            <a:custGeom>
              <a:avLst/>
              <a:gdLst/>
              <a:ahLst/>
              <a:cxnLst/>
              <a:rect r="r" b="b" t="t" l="l"/>
              <a:pathLst>
                <a:path h="3313066" w="6065109">
                  <a:moveTo>
                    <a:pt x="0" y="0"/>
                  </a:moveTo>
                  <a:lnTo>
                    <a:pt x="6065109" y="0"/>
                  </a:lnTo>
                  <a:lnTo>
                    <a:pt x="6065109" y="3313066"/>
                  </a:lnTo>
                  <a:lnTo>
                    <a:pt x="0" y="331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76446" y="3544738"/>
            <a:ext cx="5752578" cy="4304501"/>
            <a:chOff x="0" y="0"/>
            <a:chExt cx="7670104" cy="57393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314008"/>
              <a:ext cx="6015558" cy="3285999"/>
            </a:xfrm>
            <a:custGeom>
              <a:avLst/>
              <a:gdLst/>
              <a:ahLst/>
              <a:cxnLst/>
              <a:rect r="r" b="b" t="t" l="l"/>
              <a:pathLst>
                <a:path h="3285999" w="6015558">
                  <a:moveTo>
                    <a:pt x="0" y="0"/>
                  </a:moveTo>
                  <a:lnTo>
                    <a:pt x="6015558" y="0"/>
                  </a:lnTo>
                  <a:lnTo>
                    <a:pt x="6015558" y="3285999"/>
                  </a:lnTo>
                  <a:lnTo>
                    <a:pt x="0" y="3285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76200"/>
              <a:ext cx="7670104" cy="686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Justificación</a:t>
              </a:r>
              <a:r>
                <a:rPr lang="en-US" b="true" sz="3759">
                  <a:solidFill>
                    <a:srgbClr val="F7F8F8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de No-Sintéticos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875336"/>
              <a:ext cx="7670104" cy="863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⛔ DATOS REALES DISPONIBLES.</a:t>
              </a:r>
            </a:p>
            <a:p>
              <a:pPr algn="l" marL="0" indent="0" lvl="0">
                <a:lnSpc>
                  <a:spcPts val="2689"/>
                </a:lnSpc>
              </a:pPr>
              <a:r>
                <a:rPr lang="en-US" b="true" sz="1921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--DECISIÓN-- : NO SE USARÁN DATOS FICTICIOS.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176446" y="4535377"/>
            <a:ext cx="4530092" cy="2475473"/>
          </a:xfrm>
          <a:custGeom>
            <a:avLst/>
            <a:gdLst/>
            <a:ahLst/>
            <a:cxnLst/>
            <a:rect r="r" b="b" t="t" l="l"/>
            <a:pathLst>
              <a:path h="2475473" w="4530092">
                <a:moveTo>
                  <a:pt x="0" y="0"/>
                </a:moveTo>
                <a:lnTo>
                  <a:pt x="4530092" y="0"/>
                </a:lnTo>
                <a:lnTo>
                  <a:pt x="4530092" y="2475472"/>
                </a:lnTo>
                <a:lnTo>
                  <a:pt x="0" y="2475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53" t="0" r="-163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30615" y="258903"/>
            <a:ext cx="9164610" cy="1325886"/>
            <a:chOff x="0" y="0"/>
            <a:chExt cx="12219480" cy="176784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4300"/>
              <a:ext cx="12219480" cy="1198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b="true" sz="6500">
                  <a:solidFill>
                    <a:srgbClr val="BB9E3D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EVALUACIÓN</a:t>
              </a:r>
              <a:r>
                <a:rPr lang="en-US" b="true" sz="6500">
                  <a:solidFill>
                    <a:srgbClr val="BB9E3D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DE FUENTES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64717"/>
              <a:ext cx="7264400" cy="503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0"/>
                </a:lnSpc>
              </a:pPr>
              <a:r>
                <a:rPr lang="en-US" b="true" sz="2300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SELECCIÓN</a:t>
              </a:r>
              <a:r>
                <a:rPr lang="en-US" b="true" sz="2300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DE FUENTES DE VERDAD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597" y="326790"/>
            <a:ext cx="15509421" cy="81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0"/>
              </a:lnSpc>
            </a:pPr>
            <a:r>
              <a:rPr lang="en-US" b="true" sz="61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ANALISIS DE DATOS BRUTOS OBTENIDOS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9362" y="3334390"/>
            <a:ext cx="8744638" cy="459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 b="true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💼 </a:t>
            </a:r>
            <a:r>
              <a:rPr lang="en-US" sz="2156" b="true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DESEMPLEO Y SALARIOS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TOS: SALARIOS POR DECILES, DESEMPLEO, CONTRATOS INDEFINIDOS O TEMPORALES, SALARIOS MEDIOS, MEDIANOS Y MÁS FRECUENTES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NATURALEZA: (M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EN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SUAL/TRIMES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TRAL/ANUAL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)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IMPORTANCIA: INDICAN LA SALUD MICROECONÓMICA DE UN PAÍS</a:t>
            </a:r>
          </a:p>
          <a:p>
            <a:pPr algn="l">
              <a:lnSpc>
                <a:spcPts val="3019"/>
              </a:lnSpc>
            </a:pP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🌐</a:t>
            </a:r>
            <a:r>
              <a:rPr lang="en-US" b="true" sz="2156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MERCADOS 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TOS: ORO (EN USD), IBEX35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NATURALEZA: (DIARIA/TICK).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IMPORTANCIA: PERMITEN CORRELACIONAR LOS DISTINTOS ACTIVOS PARA REPRESENTAR MIGRACIONES DE FIAT A ACTIVOS DE “MÁS RIESGO”</a:t>
            </a:r>
          </a:p>
          <a:p>
            <a:pPr algn="l" marL="0" indent="0" lvl="0">
              <a:lnSpc>
                <a:spcPts val="32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312330" y="3334390"/>
            <a:ext cx="8744638" cy="459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 b="true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📉 </a:t>
            </a:r>
            <a:r>
              <a:rPr lang="en-US" sz="2156" b="true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INFLACIÓN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TOS: IPC GENERAL, IPC POR TIPOS DE PRODUCTO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NATURALEZA: (M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EN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SUAL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/ANUAL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)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IMPORTANCIA: INDICADOR MÁS FIABLE QUE REPRESENTA LA PÉRDIDA DE PODER ADQUISITIVO DE LA MONEDA FIAT Y DE LA SUBIDA DEL COSTO DE VIDA</a:t>
            </a:r>
          </a:p>
          <a:p>
            <a:pPr algn="l">
              <a:lnSpc>
                <a:spcPts val="3019"/>
              </a:lnSpc>
            </a:pP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💱</a:t>
            </a:r>
            <a:r>
              <a:rPr lang="en-US" b="true" sz="2156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TIPO DE CAMBIO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</a:t>
            </a: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TOS: EURO A USD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NATURALEZA: (DIARIA/TICK).</a:t>
            </a:r>
          </a:p>
          <a:p>
            <a:pPr algn="l" marL="465573" indent="-232787" lvl="1">
              <a:lnSpc>
                <a:spcPts val="3019"/>
              </a:lnSpc>
              <a:buFont typeface="Arial"/>
              <a:buChar char="•"/>
            </a:pPr>
            <a:r>
              <a:rPr lang="en-US" sz="2156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IMPORTANCIA: ESTE DATO NOS SIRVE PARA GENERAR UN NUEVO CSV DEL ORO (EN EUR), USAREMOS ESTE NUEVO ACTIVO PARA LOS ANÁLISIS FINALES</a:t>
            </a:r>
          </a:p>
          <a:p>
            <a:pPr algn="l" marL="0" indent="0" lvl="0">
              <a:lnSpc>
                <a:spcPts val="329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87663"/>
            <a:ext cx="9122434" cy="6556075"/>
          </a:xfrm>
          <a:custGeom>
            <a:avLst/>
            <a:gdLst/>
            <a:ahLst/>
            <a:cxnLst/>
            <a:rect r="r" b="b" t="t" l="l"/>
            <a:pathLst>
              <a:path h="6556075" w="9122434">
                <a:moveTo>
                  <a:pt x="0" y="0"/>
                </a:moveTo>
                <a:lnTo>
                  <a:pt x="9122434" y="0"/>
                </a:lnTo>
                <a:lnTo>
                  <a:pt x="9122434" y="6556075"/>
                </a:lnTo>
                <a:lnTo>
                  <a:pt x="0" y="655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08" t="-5800" r="-3971" b="-596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75988" y="2623389"/>
            <a:ext cx="7299389" cy="498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Automatización completa mediante script: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Para datos sobre mercados usamos scripts automatizados como este.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Son rápidos eficaces y seguros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Ingesta manual a traves del INE:</a:t>
            </a:r>
          </a:p>
          <a:p>
            <a:pPr algn="l">
              <a:lnSpc>
                <a:spcPts val="2800"/>
              </a:lnSpc>
            </a:pP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El INE tiene una API igual que Yahoo Finanzas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El problema es que los títulos de cada estudio y cada dato son tan variados sin estructura ni orden que la solución más rápida es buscarlos en la web y descargar uno a uno cada csv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2597" y="326790"/>
            <a:ext cx="17036703" cy="81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0"/>
              </a:lnSpc>
            </a:pPr>
            <a:r>
              <a:rPr lang="en-US" b="true" sz="61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Ingesta Automatizada con Python (APIs)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24490" y="147606"/>
            <a:ext cx="8948294" cy="4888006"/>
          </a:xfrm>
          <a:custGeom>
            <a:avLst/>
            <a:gdLst/>
            <a:ahLst/>
            <a:cxnLst/>
            <a:rect r="r" b="b" t="t" l="l"/>
            <a:pathLst>
              <a:path h="4888006" w="8948294">
                <a:moveTo>
                  <a:pt x="0" y="0"/>
                </a:moveTo>
                <a:lnTo>
                  <a:pt x="8948295" y="0"/>
                </a:lnTo>
                <a:lnTo>
                  <a:pt x="8948295" y="4888006"/>
                </a:lnTo>
                <a:lnTo>
                  <a:pt x="0" y="4888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411" y="319056"/>
            <a:ext cx="8324850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RETOS TECNICOS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06" y="2541696"/>
            <a:ext cx="9235000" cy="680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045" indent="-247522" lvl="1">
              <a:lnSpc>
                <a:spcPts val="3210"/>
              </a:lnSpc>
              <a:buFont typeface="Arial"/>
              <a:buChar char="•"/>
            </a:pPr>
            <a:r>
              <a:rPr lang="en-US" b="true" sz="2292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 CONFLICTOS: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SALARIOS (1 DATO/AÑO) VS. ORO (250 DATOS/AÑO).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DATOS FUERA DE LOS FORMATOS REQUERIDOS POR LA BASE DE DATOS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DATOS DE HOMBRES Y MUJERES POR SEPARADO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CARACTERES DESCONOCIDOS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DATOS INECESARIOS</a:t>
            </a:r>
          </a:p>
          <a:p>
            <a:pPr algn="l">
              <a:lnSpc>
                <a:spcPts val="3210"/>
              </a:lnSpc>
            </a:pPr>
          </a:p>
          <a:p>
            <a:pPr algn="l">
              <a:lnSpc>
                <a:spcPts val="3210"/>
              </a:lnSpc>
            </a:pPr>
          </a:p>
          <a:p>
            <a:pPr algn="l" marL="495045" indent="-247522" lvl="1">
              <a:lnSpc>
                <a:spcPts val="3210"/>
              </a:lnSpc>
              <a:buFont typeface="Arial"/>
              <a:buChar char="•"/>
            </a:pPr>
            <a:r>
              <a:rPr lang="en-US" b="true" sz="2292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</a:t>
            </a:r>
            <a:r>
              <a:rPr lang="en-US" b="true" sz="2292">
                <a:solidFill>
                  <a:srgbClr val="F0E6D2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 ESTRATEGIA DE TRANSFORMACIÓN: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CAMBIAR SIGNOS DE PUNTUACIÓN Y FECHAS A FORMATO YYYY-MM-DD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FECHAS ANUALES A YYYY-12-31 Y MENSUALES A YYYY-MM-31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SI HAY TRIMESTRALES HACER LA MEDIA PARA SACAR LA ANUAL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HACER MEDIAS ENTRE HOMBRES Y MUJERES</a:t>
            </a:r>
          </a:p>
          <a:p>
            <a:pPr algn="l" marL="990090" indent="-330030" lvl="2">
              <a:lnSpc>
                <a:spcPts val="3210"/>
              </a:lnSpc>
              <a:buFont typeface="Arial"/>
              <a:buChar char="⚬"/>
            </a:pPr>
            <a:r>
              <a:rPr lang="en-US" sz="2292">
                <a:solidFill>
                  <a:srgbClr val="F0E6D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ELIMINACION DE COLUMNAS</a:t>
            </a:r>
          </a:p>
          <a:p>
            <a:pPr algn="l">
              <a:lnSpc>
                <a:spcPts val="3210"/>
              </a:lnSpc>
            </a:pPr>
          </a:p>
          <a:p>
            <a:pPr algn="l">
              <a:lnSpc>
                <a:spcPts val="3210"/>
              </a:lnSpc>
            </a:pPr>
          </a:p>
          <a:p>
            <a:pPr algn="l" marL="0" indent="0" lvl="0">
              <a:lnSpc>
                <a:spcPts val="350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224490" y="5143500"/>
            <a:ext cx="8948294" cy="4992529"/>
          </a:xfrm>
          <a:custGeom>
            <a:avLst/>
            <a:gdLst/>
            <a:ahLst/>
            <a:cxnLst/>
            <a:rect r="r" b="b" t="t" l="l"/>
            <a:pathLst>
              <a:path h="4992529" w="8948294">
                <a:moveTo>
                  <a:pt x="0" y="0"/>
                </a:moveTo>
                <a:lnTo>
                  <a:pt x="8948295" y="0"/>
                </a:lnTo>
                <a:lnTo>
                  <a:pt x="8948295" y="4992529"/>
                </a:lnTo>
                <a:lnTo>
                  <a:pt x="0" y="4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94" r="0" b="-15588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3520" y="2059236"/>
            <a:ext cx="9270065" cy="3151822"/>
          </a:xfrm>
          <a:custGeom>
            <a:avLst/>
            <a:gdLst/>
            <a:ahLst/>
            <a:cxnLst/>
            <a:rect r="r" b="b" t="t" l="l"/>
            <a:pathLst>
              <a:path h="3151822" w="9270065">
                <a:moveTo>
                  <a:pt x="0" y="0"/>
                </a:moveTo>
                <a:lnTo>
                  <a:pt x="9270065" y="0"/>
                </a:lnTo>
                <a:lnTo>
                  <a:pt x="9270065" y="3151822"/>
                </a:lnTo>
                <a:lnTo>
                  <a:pt x="0" y="3151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53520" y="5524795"/>
            <a:ext cx="9270065" cy="4148354"/>
          </a:xfrm>
          <a:custGeom>
            <a:avLst/>
            <a:gdLst/>
            <a:ahLst/>
            <a:cxnLst/>
            <a:rect r="r" b="b" t="t" l="l"/>
            <a:pathLst>
              <a:path h="4148354" w="9270065">
                <a:moveTo>
                  <a:pt x="0" y="0"/>
                </a:moveTo>
                <a:lnTo>
                  <a:pt x="9270065" y="0"/>
                </a:lnTo>
                <a:lnTo>
                  <a:pt x="9270065" y="4148354"/>
                </a:lnTo>
                <a:lnTo>
                  <a:pt x="0" y="4148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0411" y="319056"/>
            <a:ext cx="14459328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SOLUCIONES A LOS DESAFIOS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0411" y="6038561"/>
            <a:ext cx="6501375" cy="274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4095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limpieza de datos con scripts de python</a:t>
            </a:r>
          </a:p>
          <a:p>
            <a:pPr algn="ctr">
              <a:lnSpc>
                <a:spcPts val="4095"/>
              </a:lnSpc>
            </a:pPr>
          </a:p>
          <a:p>
            <a:pPr algn="l" marL="582014" indent="-291007" lvl="1">
              <a:lnSpc>
                <a:spcPts val="2695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Para transformaciones olvidadas como alguna ordenación y tratamiento de nulos</a:t>
            </a:r>
          </a:p>
          <a:p>
            <a:pPr algn="ctr">
              <a:lnSpc>
                <a:spcPts val="409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90937" y="2306175"/>
            <a:ext cx="6652372" cy="274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4095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Transformaciones(Pentaho)</a:t>
            </a:r>
          </a:p>
          <a:p>
            <a:pPr algn="ctr">
              <a:lnSpc>
                <a:spcPts val="4095"/>
              </a:lnSpc>
            </a:pPr>
          </a:p>
          <a:p>
            <a:pPr algn="l" marL="582930" indent="-291465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DADFE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Limpieza: filtrados, renombres, borrados..</a:t>
            </a:r>
          </a:p>
          <a:p>
            <a:pPr algn="l">
              <a:lnSpc>
                <a:spcPts val="2700"/>
              </a:lnSpc>
            </a:pPr>
          </a:p>
          <a:p>
            <a:pPr algn="l" marL="582930" indent="-291465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DADFE2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Recibe datos brutos y los exporta en nuevos csv para el análisis.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3848" y="4773176"/>
            <a:ext cx="11040304" cy="4485124"/>
          </a:xfrm>
          <a:custGeom>
            <a:avLst/>
            <a:gdLst/>
            <a:ahLst/>
            <a:cxnLst/>
            <a:rect r="r" b="b" t="t" l="l"/>
            <a:pathLst>
              <a:path h="4485124" w="11040304">
                <a:moveTo>
                  <a:pt x="0" y="0"/>
                </a:moveTo>
                <a:lnTo>
                  <a:pt x="11040304" y="0"/>
                </a:lnTo>
                <a:lnTo>
                  <a:pt x="11040304" y="4485124"/>
                </a:lnTo>
                <a:lnTo>
                  <a:pt x="0" y="4485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77742" y="316230"/>
            <a:ext cx="7932515" cy="134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RESULTADOS DE LA TRANFORMACION CON PENTAHO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65808" y="2575063"/>
            <a:ext cx="9956384" cy="171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b="true" sz="273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</a:t>
            </a:r>
            <a:r>
              <a:rPr lang="en-US" b="true" sz="273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USTEZ DEL DATASET, Resultados validados del proceso ETL</a:t>
            </a:r>
          </a:p>
          <a:p>
            <a:pPr algn="ctr">
              <a:lnSpc>
                <a:spcPts val="2731"/>
              </a:lnSpc>
              <a:spcBef>
                <a:spcPct val="0"/>
              </a:spcBef>
            </a:pPr>
          </a:p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2731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🟢 100% ÉXITO DE CARGA Todos los scripts técnicos funcionaron sin errores.</a:t>
            </a:r>
          </a:p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2731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🔵 &gt;98% DATOS LIMPIOS Información depurada, sin duplicados ni fallos.</a:t>
            </a:r>
          </a:p>
          <a:p>
            <a:pPr algn="ctr">
              <a:lnSpc>
                <a:spcPts val="2731"/>
              </a:lnSpc>
              <a:spcBef>
                <a:spcPct val="0"/>
              </a:spcBef>
            </a:pPr>
            <a:r>
              <a:rPr lang="en-US" sz="2731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🟣 &gt;95% COBERTURA Serie histórica completa desde 2010 a 202</a:t>
            </a:r>
            <a:r>
              <a:rPr lang="en-US" b="true" sz="273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5.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26297" y="5147596"/>
            <a:ext cx="8642057" cy="4774737"/>
          </a:xfrm>
          <a:custGeom>
            <a:avLst/>
            <a:gdLst/>
            <a:ahLst/>
            <a:cxnLst/>
            <a:rect r="r" b="b" t="t" l="l"/>
            <a:pathLst>
              <a:path h="4774737" w="8642057">
                <a:moveTo>
                  <a:pt x="0" y="0"/>
                </a:moveTo>
                <a:lnTo>
                  <a:pt x="8642057" y="0"/>
                </a:lnTo>
                <a:lnTo>
                  <a:pt x="8642057" y="4774737"/>
                </a:lnTo>
                <a:lnTo>
                  <a:pt x="0" y="4774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6399" y="5143500"/>
            <a:ext cx="7653768" cy="3808918"/>
          </a:xfrm>
          <a:custGeom>
            <a:avLst/>
            <a:gdLst/>
            <a:ahLst/>
            <a:cxnLst/>
            <a:rect r="r" b="b" t="t" l="l"/>
            <a:pathLst>
              <a:path h="3808918" w="7653768">
                <a:moveTo>
                  <a:pt x="0" y="0"/>
                </a:moveTo>
                <a:lnTo>
                  <a:pt x="7653768" y="0"/>
                </a:lnTo>
                <a:lnTo>
                  <a:pt x="7653768" y="3808918"/>
                </a:lnTo>
                <a:lnTo>
                  <a:pt x="0" y="380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7005" y="3081706"/>
            <a:ext cx="8115300" cy="48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3643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generación del csv oro (en eur) con Pentaho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44238" y="3083754"/>
            <a:ext cx="7431636" cy="48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3643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integración con la base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411" y="319056"/>
            <a:ext cx="16743788" cy="112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GENERACIÓN Y CARGA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22082" y="862455"/>
            <a:ext cx="10300258" cy="8562089"/>
          </a:xfrm>
          <a:custGeom>
            <a:avLst/>
            <a:gdLst/>
            <a:ahLst/>
            <a:cxnLst/>
            <a:rect r="r" b="b" t="t" l="l"/>
            <a:pathLst>
              <a:path h="8562089" w="10300258">
                <a:moveTo>
                  <a:pt x="0" y="0"/>
                </a:moveTo>
                <a:lnTo>
                  <a:pt x="10300258" y="0"/>
                </a:lnTo>
                <a:lnTo>
                  <a:pt x="10300258" y="8562090"/>
                </a:lnTo>
                <a:lnTo>
                  <a:pt x="0" y="856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8274" y="676497"/>
            <a:ext cx="6886575" cy="2600325"/>
            <a:chOff x="0" y="0"/>
            <a:chExt cx="9182100" cy="34671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1821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b="true" sz="8499">
                  <a:solidFill>
                    <a:srgbClr val="BB9E3D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Diseño del DW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79625"/>
              <a:ext cx="72644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ARQUITECTURA DEL DATA WAREHOUSE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8274" y="5143500"/>
            <a:ext cx="6886575" cy="3357434"/>
            <a:chOff x="0" y="0"/>
            <a:chExt cx="9182100" cy="447657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91821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ESQUEMA ESTRELLA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52450"/>
              <a:ext cx="9182100" cy="3924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0E6D2"/>
                  </a:solidFill>
                  <a:latin typeface="Touvlo"/>
                  <a:ea typeface="Touvlo"/>
                  <a:cs typeface="Touvlo"/>
                  <a:sym typeface="Touvlo"/>
                </a:rPr>
                <a:t>El </a:t>
              </a:r>
              <a:r>
                <a:rPr lang="en-US" b="true" sz="2799">
                  <a:solidFill>
                    <a:srgbClr val="F0E6D2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esquema estrella</a:t>
              </a:r>
              <a:r>
                <a:rPr lang="en-US" sz="2799">
                  <a:solidFill>
                    <a:srgbClr val="F0E6D2"/>
                  </a:solidFill>
                  <a:latin typeface="Touvlo"/>
                  <a:ea typeface="Touvlo"/>
                  <a:cs typeface="Touvlo"/>
                  <a:sym typeface="Touvlo"/>
                </a:rPr>
                <a:t> facilita un análisis efectivo de datos al organizar hechos y dimensiones de manera clara y accesible. Las dimensiones para bases de datos de tipo económicas son siempre las siguientes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19" y="-280197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352795"/>
            <a:ext cx="4085590" cy="3661710"/>
          </a:xfrm>
          <a:custGeom>
            <a:avLst/>
            <a:gdLst/>
            <a:ahLst/>
            <a:cxnLst/>
            <a:rect r="r" b="b" t="t" l="l"/>
            <a:pathLst>
              <a:path h="3661710" w="4085590">
                <a:moveTo>
                  <a:pt x="0" y="0"/>
                </a:moveTo>
                <a:lnTo>
                  <a:pt x="4085590" y="0"/>
                </a:lnTo>
                <a:lnTo>
                  <a:pt x="4085590" y="3661710"/>
                </a:lnTo>
                <a:lnTo>
                  <a:pt x="0" y="3661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60060" y="5266777"/>
            <a:ext cx="4277008" cy="3747728"/>
          </a:xfrm>
          <a:custGeom>
            <a:avLst/>
            <a:gdLst/>
            <a:ahLst/>
            <a:cxnLst/>
            <a:rect r="r" b="b" t="t" l="l"/>
            <a:pathLst>
              <a:path h="3747728" w="4277008">
                <a:moveTo>
                  <a:pt x="0" y="0"/>
                </a:moveTo>
                <a:lnTo>
                  <a:pt x="4277008" y="0"/>
                </a:lnTo>
                <a:lnTo>
                  <a:pt x="4277008" y="3747728"/>
                </a:lnTo>
                <a:lnTo>
                  <a:pt x="0" y="3747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38852" y="6010654"/>
            <a:ext cx="5286487" cy="2259973"/>
          </a:xfrm>
          <a:custGeom>
            <a:avLst/>
            <a:gdLst/>
            <a:ahLst/>
            <a:cxnLst/>
            <a:rect r="r" b="b" t="t" l="l"/>
            <a:pathLst>
              <a:path h="2259973" w="5286487">
                <a:moveTo>
                  <a:pt x="0" y="0"/>
                </a:moveTo>
                <a:lnTo>
                  <a:pt x="5286487" y="0"/>
                </a:lnTo>
                <a:lnTo>
                  <a:pt x="5286487" y="2259974"/>
                </a:lnTo>
                <a:lnTo>
                  <a:pt x="0" y="225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8274" y="847947"/>
            <a:ext cx="15634700" cy="112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Base de datos init y despliegue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704" y="3905675"/>
            <a:ext cx="3284879" cy="92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638" indent="-145819" lvl="1">
              <a:lnSpc>
                <a:spcPts val="1891"/>
              </a:lnSpc>
              <a:buFont typeface="Arial"/>
              <a:buChar char="•"/>
            </a:pPr>
            <a:r>
              <a:rPr lang="en-US" sz="1350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Diseño anterior implementado con MySQL Workbench</a:t>
            </a:r>
          </a:p>
          <a:p>
            <a:pPr algn="l" marL="291638" indent="-145819" lvl="1">
              <a:lnSpc>
                <a:spcPts val="1891"/>
              </a:lnSpc>
              <a:buFont typeface="Arial"/>
              <a:buChar char="•"/>
            </a:pPr>
            <a:r>
              <a:rPr lang="en-US" sz="1350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Obtención del .SQL para poder desplegar la base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70858" y="3034586"/>
            <a:ext cx="1622475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DOCKER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7508" y="3034586"/>
            <a:ext cx="3348263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SCRIPTS 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4074" y="3034586"/>
            <a:ext cx="754841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SQL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7180" y="3935589"/>
            <a:ext cx="3284879" cy="92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638" indent="-145819" lvl="1">
              <a:lnSpc>
                <a:spcPts val="1891"/>
              </a:lnSpc>
              <a:buFont typeface="Arial"/>
              <a:buChar char="•"/>
            </a:pPr>
            <a:r>
              <a:rPr lang="en-US" sz="1350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INIT.py para incluir valores de dimensiones fijas en nuestras tablas de dimensiones de la base de datos al crear de cero la BD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9656" y="3786612"/>
            <a:ext cx="3284879" cy="140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638" indent="-145819" lvl="1">
              <a:lnSpc>
                <a:spcPts val="1891"/>
              </a:lnSpc>
              <a:buFont typeface="Arial"/>
              <a:buChar char="•"/>
            </a:pPr>
            <a:r>
              <a:rPr lang="en-US" sz="1350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Despliegue de la base de datos mediante Docker </a:t>
            </a:r>
          </a:p>
          <a:p>
            <a:pPr algn="l" marL="291638" indent="-145819" lvl="1">
              <a:lnSpc>
                <a:spcPts val="1891"/>
              </a:lnSpc>
              <a:buFont typeface="Arial"/>
              <a:buChar char="•"/>
            </a:pPr>
            <a:r>
              <a:rPr lang="en-US" sz="1350">
                <a:solidFill>
                  <a:srgbClr val="F0E6D2"/>
                </a:solidFill>
                <a:latin typeface="Touvlo"/>
                <a:ea typeface="Touvlo"/>
                <a:cs typeface="Touvlo"/>
                <a:sym typeface="Touvlo"/>
              </a:rPr>
              <a:t>Uso de copias de seguridad para guardar toda la base de datos en SQL y poder desplegarla cuando se necesite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38353" y="3195093"/>
            <a:ext cx="11811294" cy="3896814"/>
            <a:chOff x="0" y="0"/>
            <a:chExt cx="15748392" cy="519575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925"/>
              <a:ext cx="15748392" cy="2812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61"/>
                </a:lnSpc>
              </a:pPr>
              <a:r>
                <a:rPr lang="en-US" b="true" sz="8061">
                  <a:solidFill>
                    <a:srgbClr val="BB9E3D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Semántica e Interoperabil</a:t>
              </a:r>
              <a:r>
                <a:rPr lang="en-US" b="true" sz="8061">
                  <a:solidFill>
                    <a:srgbClr val="BB9E3D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idad (Schema)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633381"/>
              <a:ext cx="12459309" cy="1562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2"/>
                </a:lnSpc>
              </a:pPr>
              <a:r>
                <a:rPr lang="en-US" b="true" sz="3430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HACIENDO </a:t>
              </a:r>
              <a:r>
                <a:rPr lang="en-US" b="true" sz="3430">
                  <a:solidFill>
                    <a:srgbClr val="F0E6D2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QUE LOS DATOS HABLEN EL IDIOMA DE LA WEB (GOOGLE, IA, BUSCADORES)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382" y="6086650"/>
            <a:ext cx="6592384" cy="3601090"/>
          </a:xfrm>
          <a:custGeom>
            <a:avLst/>
            <a:gdLst/>
            <a:ahLst/>
            <a:cxnLst/>
            <a:rect r="r" b="b" t="t" l="l"/>
            <a:pathLst>
              <a:path h="3601090" w="6592384">
                <a:moveTo>
                  <a:pt x="0" y="0"/>
                </a:moveTo>
                <a:lnTo>
                  <a:pt x="6592384" y="0"/>
                </a:lnTo>
                <a:lnTo>
                  <a:pt x="6592384" y="3601090"/>
                </a:lnTo>
                <a:lnTo>
                  <a:pt x="0" y="360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5382" y="1420040"/>
            <a:ext cx="6592384" cy="417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393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🔴 DATOS AISLADOS ("SILOS")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EL PROBLEMA ES QUE TENEMOS MUCHOS ARCHIVOS SUELTOS QUE NO SE CONECTAN ENTRE SI.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SI SE VE UN DATO (EJ: 1500), NO SABES SI ES DINERO O FECHA.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OTROS NO LO ENTENDERIAN (NO SERVIRIA)</a:t>
            </a:r>
          </a:p>
          <a:p>
            <a:pPr algn="l" marL="0" indent="0" lvl="0">
              <a:lnSpc>
                <a:spcPts val="33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320234" y="1420040"/>
            <a:ext cx="6592384" cy="501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393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🟢 ESTANDARIZACIÓN FAIR (SCHEMA.ORG)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APLICAMOS ESTÁNDAR FAIR CON SCHEMA.ORG.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PONEMOS ETIQUETAS A DATOS ( + ENTENDIBLES).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SE SABE QUE SIGNIFICA EXACTAMENTE CADA NÚMERO.</a:t>
            </a:r>
          </a:p>
          <a:p>
            <a:pPr algn="l">
              <a:lnSpc>
                <a:spcPts val="3350"/>
              </a:lnSpc>
            </a:pPr>
          </a:p>
          <a:p>
            <a:pPr algn="l" marL="516695" indent="-258347" lvl="1">
              <a:lnSpc>
                <a:spcPts val="3350"/>
              </a:lnSpc>
              <a:buFont typeface="Arial"/>
              <a:buChar char="•"/>
            </a:pPr>
            <a:r>
              <a:rPr lang="en-US" sz="2393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SON MUCHO MÁS ACCESIBLES.</a:t>
            </a:r>
          </a:p>
          <a:p>
            <a:pPr algn="l">
              <a:lnSpc>
                <a:spcPts val="3350"/>
              </a:lnSpc>
            </a:pPr>
          </a:p>
          <a:p>
            <a:pPr algn="l" marL="0" indent="0" lvl="0">
              <a:lnSpc>
                <a:spcPts val="33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18274" y="450207"/>
            <a:ext cx="16594344" cy="57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ESTANDARIZAR: DE DATOS AISLADOS A DATOS ACCESIBLES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2567" y="2558311"/>
            <a:ext cx="9406733" cy="5170377"/>
          </a:xfrm>
          <a:custGeom>
            <a:avLst/>
            <a:gdLst/>
            <a:ahLst/>
            <a:cxnLst/>
            <a:rect r="r" b="b" t="t" l="l"/>
            <a:pathLst>
              <a:path h="5170377" w="9406733">
                <a:moveTo>
                  <a:pt x="0" y="0"/>
                </a:moveTo>
                <a:lnTo>
                  <a:pt x="9406733" y="0"/>
                </a:lnTo>
                <a:lnTo>
                  <a:pt x="9406733" y="5170378"/>
                </a:lnTo>
                <a:lnTo>
                  <a:pt x="0" y="517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765" r="0" b="-341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74" y="762222"/>
            <a:ext cx="6886575" cy="113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</a:t>
            </a: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DELADO DE DATOS CON SCHEMA.ORG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26806"/>
            <a:ext cx="16137723" cy="29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1) IDENTIDAD ÚNICA (SCHEMA:OBSERVATION): </a:t>
            </a:r>
          </a:p>
          <a:p>
            <a:pPr algn="l">
              <a:lnSpc>
                <a:spcPts val="3430"/>
              </a:lnSpc>
            </a:pPr>
          </a:p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2) CONTEXTO GEOGRÁFICO DINÁMICO: </a:t>
            </a:r>
          </a:p>
          <a:p>
            <a:pPr algn="l">
              <a:lnSpc>
                <a:spcPts val="3430"/>
              </a:lnSpc>
            </a:pPr>
          </a:p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3) DEFINICIÓN DE VARIABLES ECONÓMICAS:</a:t>
            </a:r>
          </a:p>
          <a:p>
            <a:pPr algn="l">
              <a:lnSpc>
                <a:spcPts val="3430"/>
              </a:lnSpc>
            </a:pPr>
          </a:p>
          <a:p>
            <a:pPr algn="l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4) NORMALIZACIÓN DE VALORES: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1677" y="4470976"/>
            <a:ext cx="11076521" cy="4191848"/>
          </a:xfrm>
          <a:custGeom>
            <a:avLst/>
            <a:gdLst/>
            <a:ahLst/>
            <a:cxnLst/>
            <a:rect r="r" b="b" t="t" l="l"/>
            <a:pathLst>
              <a:path h="4191848" w="11076521">
                <a:moveTo>
                  <a:pt x="0" y="0"/>
                </a:moveTo>
                <a:lnTo>
                  <a:pt x="11076521" y="0"/>
                </a:lnTo>
                <a:lnTo>
                  <a:pt x="11076521" y="4191848"/>
                </a:lnTo>
                <a:lnTo>
                  <a:pt x="0" y="4191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22" r="0" b="-811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74" y="762222"/>
            <a:ext cx="6886575" cy="113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</a:t>
            </a: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DELADO DE DATOS CON SCHEMA.ORG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6041"/>
            <a:ext cx="16137723" cy="127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1) IDENTIDAD ÚNICA (SCHEMA:OBSERVATION): 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CADA FILA EN BD SE CONVIERTE EN “OBSERVACIÓN INDEPENDIENTE”.</a:t>
            </a:r>
          </a:p>
          <a:p>
            <a:pPr algn="l" marL="529019" indent="-264509" lvl="1">
              <a:lnSpc>
                <a:spcPts val="3430"/>
              </a:lnSpc>
              <a:spcBef>
                <a:spcPct val="0"/>
              </a:spcBef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NO ES SOLO UN NÚMERO EN UNA TABLA (OBJETO CON PROPIO CONTEXTO).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1072" y="9003025"/>
            <a:ext cx="12052980" cy="5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A6A6A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 dato ya no es una fila anónima: ahora es una entidad independiente que contiene su propio contexto y significado.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7510" y="4587622"/>
            <a:ext cx="12189789" cy="4164090"/>
          </a:xfrm>
          <a:custGeom>
            <a:avLst/>
            <a:gdLst/>
            <a:ahLst/>
            <a:cxnLst/>
            <a:rect r="r" b="b" t="t" l="l"/>
            <a:pathLst>
              <a:path h="4164090" w="12189789">
                <a:moveTo>
                  <a:pt x="0" y="0"/>
                </a:moveTo>
                <a:lnTo>
                  <a:pt x="12189789" y="0"/>
                </a:lnTo>
                <a:lnTo>
                  <a:pt x="12189789" y="4164090"/>
                </a:lnTo>
                <a:lnTo>
                  <a:pt x="0" y="416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982" r="0" b="-937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74" y="762222"/>
            <a:ext cx="6886575" cy="113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</a:t>
            </a: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DELADO DE DATOS CON SCHEMA.ORG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6041"/>
            <a:ext cx="16137723" cy="169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2) CONTEXTO GEOGRÁFICO DINÁMICO: 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USAMOS PROPIEDAD PLACE (VINCULAR DATOS CON ESPAÑA).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NO COMO TEXTO (CONECTÁNDOLOS CON IDENTIFICADORES GLOBALES – WIKIDATA)</a:t>
            </a:r>
          </a:p>
          <a:p>
            <a:pPr algn="l">
              <a:lnSpc>
                <a:spcPts val="343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117510" y="9003025"/>
            <a:ext cx="12052980" cy="5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A6A6A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 dato ya no es solo texto: ahora está vinculado a identificadores globales (Wikidata) que definen su ubicación exacta sin ambigüedad.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4111" y="4635980"/>
            <a:ext cx="10139777" cy="3860828"/>
          </a:xfrm>
          <a:custGeom>
            <a:avLst/>
            <a:gdLst/>
            <a:ahLst/>
            <a:cxnLst/>
            <a:rect r="r" b="b" t="t" l="l"/>
            <a:pathLst>
              <a:path h="3860828" w="10139777">
                <a:moveTo>
                  <a:pt x="0" y="0"/>
                </a:moveTo>
                <a:lnTo>
                  <a:pt x="10139778" y="0"/>
                </a:lnTo>
                <a:lnTo>
                  <a:pt x="10139778" y="3860828"/>
                </a:lnTo>
                <a:lnTo>
                  <a:pt x="0" y="3860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306" r="0" b="-743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74" y="762222"/>
            <a:ext cx="6886575" cy="113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</a:t>
            </a: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DELADO DE DATOS CON SCHEMA.ORG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6041"/>
            <a:ext cx="16137723" cy="169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3) DEFINICIÓN DE VARIABLES ECONÓMICAS: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MEASUREDPROPERTY (ESPECIFICAMOS SI DATO ES SALARI</a:t>
            </a: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O, PRECIO DE ORO, INFLACIÓN..)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sz="2450">
                <a:solidFill>
                  <a:srgbClr val="F7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CUALQUIER SISTEMA SEPA EXACTAMENTE QUE LEE.</a:t>
            </a:r>
          </a:p>
          <a:p>
            <a:pPr algn="l">
              <a:lnSpc>
                <a:spcPts val="343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117510" y="8709651"/>
            <a:ext cx="12052980" cy="5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A6A6A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 dato ya no es un número huérfano: ahora está etiquetado para que cualquier sistema sepa si lee un salario, el precio del oro o la inflación.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1072" y="4414772"/>
            <a:ext cx="12052980" cy="3886101"/>
          </a:xfrm>
          <a:custGeom>
            <a:avLst/>
            <a:gdLst/>
            <a:ahLst/>
            <a:cxnLst/>
            <a:rect r="r" b="b" t="t" l="l"/>
            <a:pathLst>
              <a:path h="3886101" w="12052980">
                <a:moveTo>
                  <a:pt x="0" y="0"/>
                </a:moveTo>
                <a:lnTo>
                  <a:pt x="12052979" y="0"/>
                </a:lnTo>
                <a:lnTo>
                  <a:pt x="12052979" y="3886102"/>
                </a:lnTo>
                <a:lnTo>
                  <a:pt x="0" y="388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6190" r="0" b="-1039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74" y="762222"/>
            <a:ext cx="6886575" cy="113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0"/>
              </a:lnSpc>
            </a:pP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</a:t>
            </a:r>
            <a:r>
              <a:rPr lang="en-US" b="true" sz="4400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DELADO DE DATOS CON SCHEMA.ORG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6041"/>
            <a:ext cx="16137723" cy="127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4) NORMALIZACIÓN DE VALORES: </a:t>
            </a:r>
          </a:p>
          <a:p>
            <a:pPr algn="l" marL="529019" indent="-264509" lvl="1">
              <a:lnSpc>
                <a:spcPts val="3430"/>
              </a:lnSpc>
              <a:buFont typeface="Arial"/>
              <a:buChar char="•"/>
            </a:pPr>
            <a:r>
              <a:rPr lang="en-US" b="true" sz="2450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MONETARYAMOUNT = BLINDAR LA</a:t>
            </a:r>
            <a:r>
              <a:rPr lang="en-US" b="true" sz="2450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UNIDAD DE MEDIDA.</a:t>
            </a:r>
          </a:p>
          <a:p>
            <a:pPr algn="l" marL="529019" indent="-264509" lvl="1">
              <a:lnSpc>
                <a:spcPts val="3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0">
                <a:solidFill>
                  <a:srgbClr val="F7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SISTEMA ENTIENDE QUE TRABAJAMOS EN EUROS (NO CONFUNDE PRECIOS CON INDICES).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1072" y="8700924"/>
            <a:ext cx="12052980" cy="5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A6A6A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 dato tiene unidad blindada: ahora el sistema distingue automáticamente entre valores en euros e índices numéricos, evitando errores de cálculo.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1747" y="2728753"/>
            <a:ext cx="9045046" cy="29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64"/>
              </a:lnSpc>
            </a:pPr>
            <a:r>
              <a:rPr lang="en-US" b="true" sz="11164">
                <a:solidFill>
                  <a:srgbClr val="0A254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Visualizaciones y conclusiones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82597" y="2309578"/>
            <a:ext cx="7913050" cy="1676400"/>
            <a:chOff x="0" y="0"/>
            <a:chExt cx="10550733" cy="223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PROPÓSITO DEL ESTUDIO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09507"/>
              <a:ext cx="10550733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 strike="noStrike" u="none">
                  <a:solidFill>
                    <a:srgbClr val="0A2540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Explorar la erosión del poder adquisitivo.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 strike="noStrike" u="none">
                  <a:solidFill>
                    <a:srgbClr val="0A2540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Visualizar los activos refugio frente a la inflacción.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029" y="3461424"/>
            <a:ext cx="15233942" cy="6525549"/>
            <a:chOff x="0" y="0"/>
            <a:chExt cx="2565175" cy="1098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175" cy="1098808"/>
            </a:xfrm>
            <a:custGeom>
              <a:avLst/>
              <a:gdLst/>
              <a:ahLst/>
              <a:cxnLst/>
              <a:rect r="r" b="b" t="t" l="l"/>
              <a:pathLst>
                <a:path h="1098808" w="2565175">
                  <a:moveTo>
                    <a:pt x="7623" y="0"/>
                  </a:moveTo>
                  <a:lnTo>
                    <a:pt x="2557552" y="0"/>
                  </a:lnTo>
                  <a:cubicBezTo>
                    <a:pt x="2561762" y="0"/>
                    <a:pt x="2565175" y="3413"/>
                    <a:pt x="2565175" y="7623"/>
                  </a:cubicBezTo>
                  <a:lnTo>
                    <a:pt x="2565175" y="1091185"/>
                  </a:lnTo>
                  <a:cubicBezTo>
                    <a:pt x="2565175" y="1093207"/>
                    <a:pt x="2564372" y="1095146"/>
                    <a:pt x="2562942" y="1096575"/>
                  </a:cubicBezTo>
                  <a:cubicBezTo>
                    <a:pt x="2561513" y="1098005"/>
                    <a:pt x="2559574" y="1098808"/>
                    <a:pt x="2557552" y="1098808"/>
                  </a:cubicBezTo>
                  <a:lnTo>
                    <a:pt x="7623" y="1098808"/>
                  </a:lnTo>
                  <a:cubicBezTo>
                    <a:pt x="3413" y="1098808"/>
                    <a:pt x="0" y="1095395"/>
                    <a:pt x="0" y="1091185"/>
                  </a:cubicBezTo>
                  <a:lnTo>
                    <a:pt x="0" y="7623"/>
                  </a:lnTo>
                  <a:cubicBezTo>
                    <a:pt x="0" y="5601"/>
                    <a:pt x="803" y="3662"/>
                    <a:pt x="2233" y="2233"/>
                  </a:cubicBezTo>
                  <a:cubicBezTo>
                    <a:pt x="3662" y="803"/>
                    <a:pt x="5601" y="0"/>
                    <a:pt x="76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83" r="0" b="-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820061" y="676275"/>
            <a:ext cx="9525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27029" y="182886"/>
            <a:ext cx="10371981" cy="117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0A25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Depreciacion del dinero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9238" y="4938077"/>
            <a:ext cx="95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27029" y="1503039"/>
            <a:ext cx="11802198" cy="177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Mantener 100€ en efectivo desde 2010 gar</a:t>
            </a:r>
            <a:r>
              <a:rPr lang="en-US" sz="25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antiza hoy un poder de compra de solo 73€. Mientras que activos refugio como el Oro han más que duplicado su valor real (229€), protegiendo contra crisis como la del COVID-19 o la inflación energética. Incluso el ibex a largo plazo habría sido mejor.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7076" y="1965021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2894" y="666750"/>
            <a:ext cx="5916786" cy="7413210"/>
            <a:chOff x="0" y="0"/>
            <a:chExt cx="7889048" cy="98842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2400"/>
              <a:ext cx="7889048" cy="278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75"/>
                </a:lnSpc>
              </a:pPr>
              <a:r>
                <a:rPr lang="en-US" b="true" sz="7875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Oro como salario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299157"/>
              <a:ext cx="7264400" cy="4585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A2540"/>
                  </a:solidFill>
                  <a:latin typeface="Touvlo"/>
                  <a:ea typeface="Touvlo"/>
                  <a:cs typeface="Touvlo"/>
                  <a:sym typeface="Touvlo"/>
                </a:rPr>
                <a:t>Se analiza la </a:t>
              </a:r>
              <a:r>
                <a:rPr lang="en-US" b="true" sz="2799">
                  <a:solidFill>
                    <a:srgbClr val="0A2540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relación entre el valor del oro y los salarios, </a:t>
              </a:r>
              <a:r>
                <a:rPr lang="en-US" sz="2799">
                  <a:solidFill>
                    <a:srgbClr val="0A2540"/>
                  </a:solidFill>
                  <a:latin typeface="Touvlo"/>
                  <a:ea typeface="Touvlo"/>
                  <a:cs typeface="Touvlo"/>
                  <a:sym typeface="Touvlo"/>
                </a:rPr>
                <a:t>se ilustra cuanto oro se cobraria hoy en dia (si cobraramos en oro en vez de en euros) y las horas necesarias para cobrar una onza de oro.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E6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20718" y="3523673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38200"/>
            <a:ext cx="6886575" cy="5426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Evaluación del IBEX-35 y del oro como protección al ipc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03486" y="1165511"/>
            <a:ext cx="8792963" cy="1819126"/>
            <a:chOff x="0" y="0"/>
            <a:chExt cx="11723951" cy="242550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723951" cy="6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001C43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¿PROTEGEN EL IBEX-35 Y EL ORO CONTRA LA INFLACIÓN?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20608"/>
              <a:ext cx="10550733" cy="100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001C43"/>
                  </a:solidFill>
                  <a:latin typeface="Touvlo"/>
                  <a:ea typeface="Touvlo"/>
                  <a:cs typeface="Touvlo"/>
                  <a:sym typeface="Touvlo"/>
                </a:rPr>
                <a:t>El rendimiento de la moneda fiat es siempre negativo, mientras que los demás activos se mantienen o mejoran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823" y="640484"/>
            <a:ext cx="6886575" cy="4367595"/>
            <a:chOff x="0" y="0"/>
            <a:chExt cx="9182100" cy="58234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9182100" cy="2986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b="true" sz="8499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Cartera activos por clase social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200835"/>
              <a:ext cx="7911551" cy="62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827416"/>
              <a:ext cx="7911551" cy="6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96830" y="3588432"/>
            <a:ext cx="9889569" cy="5562882"/>
          </a:xfrm>
          <a:custGeom>
            <a:avLst/>
            <a:gdLst/>
            <a:ahLst/>
            <a:cxnLst/>
            <a:rect r="r" b="b" t="t" l="l"/>
            <a:pathLst>
              <a:path h="5562882" w="9889569">
                <a:moveTo>
                  <a:pt x="0" y="0"/>
                </a:moveTo>
                <a:lnTo>
                  <a:pt x="9889569" y="0"/>
                </a:lnTo>
                <a:lnTo>
                  <a:pt x="9889569" y="5562882"/>
                </a:lnTo>
                <a:lnTo>
                  <a:pt x="0" y="556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75794" y="3727028"/>
          <a:ext cx="7520382" cy="4186735"/>
        </p:xfrm>
        <a:graphic>
          <a:graphicData uri="http://schemas.openxmlformats.org/drawingml/2006/table">
            <a:tbl>
              <a:tblPr/>
              <a:tblGrid>
                <a:gridCol w="2733274"/>
                <a:gridCol w="2058719"/>
                <a:gridCol w="2728388"/>
              </a:tblGrid>
              <a:tr h="111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ouvlo Bold"/>
                          <a:ea typeface="Touvlo Bold"/>
                          <a:cs typeface="Touvlo Bold"/>
                          <a:sym typeface="Touvlo Bold"/>
                        </a:rPr>
                        <a:t>Perfil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E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ouvlo Bold"/>
                          <a:ea typeface="Touvlo Bold"/>
                          <a:cs typeface="Touvlo Bold"/>
                          <a:sym typeface="Touvlo Bold"/>
                        </a:rPr>
                        <a:t>Ahorro Anual (%salario)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E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ouvlo Bold"/>
                          <a:ea typeface="Touvlo Bold"/>
                          <a:cs typeface="Touvlo Bold"/>
                          <a:sym typeface="Touvlo Bold"/>
                        </a:rPr>
                        <a:t>Estrategia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E3D"/>
                    </a:solidFill>
                  </a:tcPr>
                </a:tc>
              </a:tr>
              <a:tr h="8415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Clase Baja (decil 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100% efectivo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</a:tr>
              <a:tr h="111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Clase Media (decil 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50% cash 25% ibex 25% oro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</a:tr>
              <a:tr h="111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Clase Alta (decil 9)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20% cash 40% ibex 40% oro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6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8506634" y="1147881"/>
            <a:ext cx="8609101" cy="2066739"/>
            <a:chOff x="0" y="0"/>
            <a:chExt cx="11478801" cy="275565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1478801" cy="6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SIMULACIÓN DE CARTERA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9457"/>
              <a:ext cx="11478801" cy="2046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0A2540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Hemos simulado la gestión de los ahorros por las diferentes clases sociales. Las gráficas muestran el ahorro final y su evolución de cada clase social a lo largo de los años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9901" y="897072"/>
            <a:ext cx="10050718" cy="4246428"/>
          </a:xfrm>
          <a:custGeom>
            <a:avLst/>
            <a:gdLst/>
            <a:ahLst/>
            <a:cxnLst/>
            <a:rect r="r" b="b" t="t" l="l"/>
            <a:pathLst>
              <a:path h="4246428" w="10050718">
                <a:moveTo>
                  <a:pt x="0" y="0"/>
                </a:moveTo>
                <a:lnTo>
                  <a:pt x="10050718" y="0"/>
                </a:lnTo>
                <a:lnTo>
                  <a:pt x="10050718" y="4246428"/>
                </a:lnTo>
                <a:lnTo>
                  <a:pt x="0" y="4246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9901" y="5611148"/>
            <a:ext cx="10050718" cy="4246428"/>
          </a:xfrm>
          <a:custGeom>
            <a:avLst/>
            <a:gdLst/>
            <a:ahLst/>
            <a:cxnLst/>
            <a:rect r="r" b="b" t="t" l="l"/>
            <a:pathLst>
              <a:path h="4246428" w="10050718">
                <a:moveTo>
                  <a:pt x="0" y="0"/>
                </a:moveTo>
                <a:lnTo>
                  <a:pt x="10050718" y="0"/>
                </a:lnTo>
                <a:lnTo>
                  <a:pt x="10050718" y="4246428"/>
                </a:lnTo>
                <a:lnTo>
                  <a:pt x="0" y="42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7823" y="640484"/>
            <a:ext cx="6886575" cy="4367446"/>
            <a:chOff x="0" y="0"/>
            <a:chExt cx="9182100" cy="582326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91821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b="true" sz="8499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Brecha salarial y patrimonial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200637"/>
              <a:ext cx="7911551" cy="62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27217"/>
              <a:ext cx="7911551" cy="6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091" y="4063203"/>
            <a:ext cx="6087559" cy="3771565"/>
            <a:chOff x="0" y="0"/>
            <a:chExt cx="8116745" cy="50287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8116745" cy="1387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DIFERENCIAS ENTRE D9/D1 CON SALARIOS Y PATRIMONIO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20608"/>
              <a:ext cx="8116745" cy="3608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0A2540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Las gráficas muestran cómo, a pesar de que los salarios a lo largo de los años se mantienen en la misma proporción, el patrimonio (aplicando la cartera de inversión anterior) se dispara y casi se duplica.  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760206"/>
            <a:ext cx="8324850" cy="2423161"/>
            <a:chOff x="0" y="0"/>
            <a:chExt cx="11099800" cy="32308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099800" cy="3230881"/>
              <a:chOff x="0" y="0"/>
              <a:chExt cx="2192553" cy="63819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92553" cy="638199"/>
              </a:xfrm>
              <a:custGeom>
                <a:avLst/>
                <a:gdLst/>
                <a:ahLst/>
                <a:cxnLst/>
                <a:rect r="r" b="b" t="t" l="l"/>
                <a:pathLst>
                  <a:path h="638199" w="2192553">
                    <a:moveTo>
                      <a:pt x="13950" y="0"/>
                    </a:moveTo>
                    <a:lnTo>
                      <a:pt x="2178603" y="0"/>
                    </a:lnTo>
                    <a:cubicBezTo>
                      <a:pt x="2186308" y="0"/>
                      <a:pt x="2192553" y="6245"/>
                      <a:pt x="2192553" y="13950"/>
                    </a:cubicBezTo>
                    <a:lnTo>
                      <a:pt x="2192553" y="624249"/>
                    </a:lnTo>
                    <a:cubicBezTo>
                      <a:pt x="2192553" y="631953"/>
                      <a:pt x="2186308" y="638199"/>
                      <a:pt x="2178603" y="638199"/>
                    </a:cubicBezTo>
                    <a:lnTo>
                      <a:pt x="13950" y="638199"/>
                    </a:lnTo>
                    <a:cubicBezTo>
                      <a:pt x="10250" y="638199"/>
                      <a:pt x="6702" y="636729"/>
                      <a:pt x="4086" y="634113"/>
                    </a:cubicBezTo>
                    <a:cubicBezTo>
                      <a:pt x="1470" y="631497"/>
                      <a:pt x="0" y="627949"/>
                      <a:pt x="0" y="624249"/>
                    </a:cubicBezTo>
                    <a:lnTo>
                      <a:pt x="0" y="13950"/>
                    </a:lnTo>
                    <a:cubicBezTo>
                      <a:pt x="0" y="6245"/>
                      <a:pt x="6245" y="0"/>
                      <a:pt x="13950" y="0"/>
                    </a:cubicBezTo>
                    <a:close/>
                  </a:path>
                </a:pathLst>
              </a:custGeom>
              <a:solidFill>
                <a:srgbClr val="F0E6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2192553" cy="695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0" indent="0" lvl="0">
                  <a:lnSpc>
                    <a:spcPts val="32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917700" y="422346"/>
              <a:ext cx="7264400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b="true" sz="2962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EFECTO DE LA INFLACIÓN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17700" y="1133800"/>
              <a:ext cx="7264400" cy="1617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8"/>
                </a:lnSpc>
              </a:pPr>
              <a:r>
                <a:rPr lang="en-US" sz="2305">
                  <a:solidFill>
                    <a:srgbClr val="0A2540"/>
                  </a:solidFill>
                  <a:latin typeface="Touvlo"/>
                  <a:ea typeface="Touvlo"/>
                  <a:cs typeface="Touvlo"/>
                  <a:sym typeface="Touvlo"/>
                </a:rPr>
                <a:t>La inflación ha erosionado significativamente el poder adquisitivo actual.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14409" y="422409"/>
              <a:ext cx="109689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2999" u="none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3949025"/>
            <a:ext cx="8324850" cy="2423161"/>
            <a:chOff x="0" y="0"/>
            <a:chExt cx="11099800" cy="323088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1099800" cy="3230881"/>
              <a:chOff x="0" y="0"/>
              <a:chExt cx="2192553" cy="63819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92553" cy="638199"/>
              </a:xfrm>
              <a:custGeom>
                <a:avLst/>
                <a:gdLst/>
                <a:ahLst/>
                <a:cxnLst/>
                <a:rect r="r" b="b" t="t" l="l"/>
                <a:pathLst>
                  <a:path h="638199" w="2192553">
                    <a:moveTo>
                      <a:pt x="13950" y="0"/>
                    </a:moveTo>
                    <a:lnTo>
                      <a:pt x="2178603" y="0"/>
                    </a:lnTo>
                    <a:cubicBezTo>
                      <a:pt x="2186308" y="0"/>
                      <a:pt x="2192553" y="6245"/>
                      <a:pt x="2192553" y="13950"/>
                    </a:cubicBezTo>
                    <a:lnTo>
                      <a:pt x="2192553" y="624249"/>
                    </a:lnTo>
                    <a:cubicBezTo>
                      <a:pt x="2192553" y="631953"/>
                      <a:pt x="2186308" y="638199"/>
                      <a:pt x="2178603" y="638199"/>
                    </a:cubicBezTo>
                    <a:lnTo>
                      <a:pt x="13950" y="638199"/>
                    </a:lnTo>
                    <a:cubicBezTo>
                      <a:pt x="10250" y="638199"/>
                      <a:pt x="6702" y="636729"/>
                      <a:pt x="4086" y="634113"/>
                    </a:cubicBezTo>
                    <a:cubicBezTo>
                      <a:pt x="1470" y="631497"/>
                      <a:pt x="0" y="627949"/>
                      <a:pt x="0" y="624249"/>
                    </a:cubicBezTo>
                    <a:lnTo>
                      <a:pt x="0" y="13950"/>
                    </a:lnTo>
                    <a:cubicBezTo>
                      <a:pt x="0" y="6245"/>
                      <a:pt x="6245" y="0"/>
                      <a:pt x="13950" y="0"/>
                    </a:cubicBezTo>
                    <a:close/>
                  </a:path>
                </a:pathLst>
              </a:custGeom>
              <a:solidFill>
                <a:srgbClr val="F0E6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192553" cy="695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0" indent="0" lvl="0">
                  <a:lnSpc>
                    <a:spcPts val="32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917700" y="422409"/>
              <a:ext cx="7264400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b="true" sz="2962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BRECHA ENTRE CLASES SOCIALES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17700" y="1133746"/>
              <a:ext cx="7264400" cy="1617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8"/>
                </a:lnSpc>
              </a:pPr>
              <a:r>
                <a:rPr lang="en-US" sz="2305">
                  <a:solidFill>
                    <a:srgbClr val="0A2540"/>
                  </a:solidFill>
                  <a:latin typeface="Touvlo"/>
                  <a:ea typeface="Touvlo"/>
                  <a:cs typeface="Touvlo"/>
                  <a:sym typeface="Touvlo"/>
                </a:rPr>
                <a:t>Con el paso del tiempo y con mayor cantidad para invertir, la diferencia entre clases sociales aumenta.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14409" y="422409"/>
              <a:ext cx="109689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2999" u="none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96400" y="6728269"/>
            <a:ext cx="8324850" cy="2832810"/>
            <a:chOff x="0" y="0"/>
            <a:chExt cx="11099800" cy="377708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099800" cy="3777080"/>
              <a:chOff x="0" y="0"/>
              <a:chExt cx="2192553" cy="7460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92553" cy="746090"/>
              </a:xfrm>
              <a:custGeom>
                <a:avLst/>
                <a:gdLst/>
                <a:ahLst/>
                <a:cxnLst/>
                <a:rect r="r" b="b" t="t" l="l"/>
                <a:pathLst>
                  <a:path h="746090" w="2192553">
                    <a:moveTo>
                      <a:pt x="13950" y="0"/>
                    </a:moveTo>
                    <a:lnTo>
                      <a:pt x="2178603" y="0"/>
                    </a:lnTo>
                    <a:cubicBezTo>
                      <a:pt x="2186308" y="0"/>
                      <a:pt x="2192553" y="6245"/>
                      <a:pt x="2192553" y="13950"/>
                    </a:cubicBezTo>
                    <a:lnTo>
                      <a:pt x="2192553" y="732140"/>
                    </a:lnTo>
                    <a:cubicBezTo>
                      <a:pt x="2192553" y="739845"/>
                      <a:pt x="2186308" y="746090"/>
                      <a:pt x="2178603" y="746090"/>
                    </a:cubicBezTo>
                    <a:lnTo>
                      <a:pt x="13950" y="746090"/>
                    </a:lnTo>
                    <a:cubicBezTo>
                      <a:pt x="10250" y="746090"/>
                      <a:pt x="6702" y="744620"/>
                      <a:pt x="4086" y="742004"/>
                    </a:cubicBezTo>
                    <a:cubicBezTo>
                      <a:pt x="1470" y="739388"/>
                      <a:pt x="0" y="735840"/>
                      <a:pt x="0" y="732140"/>
                    </a:cubicBezTo>
                    <a:lnTo>
                      <a:pt x="0" y="13950"/>
                    </a:lnTo>
                    <a:cubicBezTo>
                      <a:pt x="0" y="6245"/>
                      <a:pt x="6245" y="0"/>
                      <a:pt x="13950" y="0"/>
                    </a:cubicBezTo>
                    <a:close/>
                  </a:path>
                </a:pathLst>
              </a:custGeom>
              <a:solidFill>
                <a:srgbClr val="F0E6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2192553" cy="803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0" indent="0" lvl="0">
                  <a:lnSpc>
                    <a:spcPts val="322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917700" y="422346"/>
              <a:ext cx="7264400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b="true" sz="2962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TODO MENOS LIQUIDO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17700" y="1133800"/>
              <a:ext cx="7582613" cy="1617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8"/>
                </a:lnSpc>
              </a:pPr>
              <a:r>
                <a:rPr lang="en-US" sz="2305">
                  <a:solidFill>
                    <a:srgbClr val="0A2540"/>
                  </a:solidFill>
                  <a:latin typeface="Touvlo"/>
                  <a:ea typeface="Touvlo"/>
                  <a:cs typeface="Touvlo"/>
                  <a:sym typeface="Touvlo"/>
                </a:rPr>
                <a:t>A largo plazo casi cualquier activo te va a dar mejor rendimiento que la moneda fiat, aunque este pierda valor.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14409" y="422409"/>
              <a:ext cx="1096891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2999" u="none">
                  <a:solidFill>
                    <a:srgbClr val="0A254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03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66750" y="3450275"/>
            <a:ext cx="8265092" cy="4649114"/>
          </a:xfrm>
          <a:custGeom>
            <a:avLst/>
            <a:gdLst/>
            <a:ahLst/>
            <a:cxnLst/>
            <a:rect r="r" b="b" t="t" l="l"/>
            <a:pathLst>
              <a:path h="4649114" w="8265092">
                <a:moveTo>
                  <a:pt x="0" y="0"/>
                </a:moveTo>
                <a:lnTo>
                  <a:pt x="8265092" y="0"/>
                </a:lnTo>
                <a:lnTo>
                  <a:pt x="8265092" y="4649114"/>
                </a:lnTo>
                <a:lnTo>
                  <a:pt x="0" y="4649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66750" y="819150"/>
            <a:ext cx="6886575" cy="200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5"/>
              </a:lnSpc>
            </a:pPr>
            <a:r>
              <a:rPr lang="en-US" b="true" sz="7725">
                <a:solidFill>
                  <a:srgbClr val="BB9E3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Conclusiones y recomendaciones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Depreciación del euro</dc:description>
  <dc:identifier>DAG7xKkVHU0</dc:identifier>
  <dcterms:modified xsi:type="dcterms:W3CDTF">2011-08-01T06:04:30Z</dcterms:modified>
  <cp:revision>1</cp:revision>
  <dc:title>Presentación - Depreciación del euro</dc:title>
</cp:coreProperties>
</file>